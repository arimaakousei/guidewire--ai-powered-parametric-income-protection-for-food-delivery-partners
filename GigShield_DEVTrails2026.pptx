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457200"/>
            <a:ext cx="4572000" cy="4114800"/>
          </a:xfrm>
          <a:prstGeom prst="ellipse">
            <a:avLst/>
          </a:prstGeom>
          <a:solidFill>
            <a:srgbClr val="FF6B2B">
              <a:alpha val="12000"/>
            </a:srgbClr>
          </a:solidFill>
          <a:ln w="12700">
            <a:solidFill>
              <a:srgbClr val="FF6B2B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0"/>
            <a:ext cx="0" cy="5143500"/>
          </a:xfrm>
          <a:prstGeom prst="line">
            <a:avLst/>
          </a:prstGeom>
          <a:noFill/>
          <a:ln w="6350">
            <a:solidFill>
              <a:srgbClr val="FF6B2B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4128" y="0"/>
            <a:ext cx="0" cy="5143500"/>
          </a:xfrm>
          <a:prstGeom prst="line">
            <a:avLst/>
          </a:prstGeom>
          <a:noFill/>
          <a:ln w="6350">
            <a:solidFill>
              <a:srgbClr val="FF6B2B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73936" y="0"/>
            <a:ext cx="0" cy="5143500"/>
          </a:xfrm>
          <a:prstGeom prst="line">
            <a:avLst/>
          </a:prstGeom>
          <a:noFill/>
          <a:ln w="6350">
            <a:solidFill>
              <a:srgbClr val="FF6B2B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23744" y="0"/>
            <a:ext cx="0" cy="5143500"/>
          </a:xfrm>
          <a:prstGeom prst="line">
            <a:avLst/>
          </a:prstGeom>
          <a:noFill/>
          <a:ln w="6350">
            <a:solidFill>
              <a:srgbClr val="FF6B2B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73552" y="0"/>
            <a:ext cx="0" cy="5143500"/>
          </a:xfrm>
          <a:prstGeom prst="line">
            <a:avLst/>
          </a:prstGeom>
          <a:noFill/>
          <a:ln w="6350">
            <a:solidFill>
              <a:srgbClr val="FF6B2B">
                <a:alpha val="1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23360" y="0"/>
            <a:ext cx="0" cy="5143500"/>
          </a:xfrm>
          <a:prstGeom prst="line">
            <a:avLst/>
          </a:prstGeom>
          <a:noFill/>
          <a:ln w="6350">
            <a:solidFill>
              <a:srgbClr val="FF6B2B">
                <a:alpha val="1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73168" y="0"/>
            <a:ext cx="0" cy="5143500"/>
          </a:xfrm>
          <a:prstGeom prst="line">
            <a:avLst/>
          </a:prstGeom>
          <a:noFill/>
          <a:ln w="6350">
            <a:solidFill>
              <a:srgbClr val="FF6B2B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22976" y="0"/>
            <a:ext cx="0" cy="5143500"/>
          </a:xfrm>
          <a:prstGeom prst="line">
            <a:avLst/>
          </a:prstGeom>
          <a:noFill/>
          <a:ln w="6350">
            <a:solidFill>
              <a:srgbClr val="FF6B2B">
                <a:alpha val="1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72784" y="0"/>
            <a:ext cx="0" cy="5143500"/>
          </a:xfrm>
          <a:prstGeom prst="line">
            <a:avLst/>
          </a:prstGeom>
          <a:noFill/>
          <a:ln w="6350">
            <a:solidFill>
              <a:srgbClr val="FF6B2B">
                <a:alpha val="1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22592" y="0"/>
            <a:ext cx="0" cy="5143500"/>
          </a:xfrm>
          <a:prstGeom prst="line">
            <a:avLst/>
          </a:prstGeom>
          <a:noFill/>
          <a:ln w="6350">
            <a:solidFill>
              <a:srgbClr val="FF6B2B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FF6B2B">
                <a:alpha val="1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22208" y="0"/>
            <a:ext cx="0" cy="5143500"/>
          </a:xfrm>
          <a:prstGeom prst="line">
            <a:avLst/>
          </a:prstGeom>
          <a:noFill/>
          <a:ln w="6350">
            <a:solidFill>
              <a:srgbClr val="FF6B2B">
                <a:alpha val="1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10972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spc="200" kern="0" dirty="0">
                <a:solidFill>
                  <a:srgbClr val="FF6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₹400–₹500</a:t>
            </a:r>
            <a:endParaRPr lang="en-US" sz="6400" dirty="0"/>
          </a:p>
        </p:txBody>
      </p:sp>
      <p:sp>
        <p:nvSpPr>
          <p:cNvPr id="16" name="Text 14"/>
          <p:cNvSpPr/>
          <p:nvPr/>
        </p:nvSpPr>
        <p:spPr>
          <a:xfrm>
            <a:off x="1371600" y="265176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every time it rains.</a:t>
            </a:r>
            <a:endParaRPr lang="en-US" sz="2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delivery partner. Every city. Zero protection.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943600" y="46634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GUIDEWIRE DEVTRAILS 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4320" y="46634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PERSONA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8600" y="105156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Ravi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320040" y="219456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Delivery Partner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Bengaluru, Karnataka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86000" y="32004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>
                    <a:alpha val="8000"/>
                  </a:srgbClr>
                </a:solidFill>
              </a:rPr>
              <a:t>👤</a:t>
            </a:r>
            <a:endParaRPr lang="en-US" sz="8000" dirty="0"/>
          </a:p>
        </p:txBody>
      </p:sp>
      <p:sp>
        <p:nvSpPr>
          <p:cNvPr id="8" name="Shape 6"/>
          <p:cNvSpPr/>
          <p:nvPr/>
        </p:nvSpPr>
        <p:spPr>
          <a:xfrm>
            <a:off x="4114800" y="502920"/>
            <a:ext cx="4754880" cy="749808"/>
          </a:xfrm>
          <a:prstGeom prst="rect">
            <a:avLst>
              <a:gd name="adj" fmla="val 9756"/>
            </a:avLst>
          </a:prstGeom>
          <a:solidFill>
            <a:srgbClr val="1E1E1E"/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0" y="502920"/>
            <a:ext cx="64008" cy="749808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51960" y="61264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800600" y="55778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Earnings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00600" y="81381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₹700–₹900/day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0" y="1463040"/>
            <a:ext cx="4754880" cy="749808"/>
          </a:xfrm>
          <a:prstGeom prst="rect">
            <a:avLst>
              <a:gd name="adj" fmla="val 9756"/>
            </a:avLst>
          </a:prstGeom>
          <a:solidFill>
            <a:srgbClr val="1E1E1E"/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0" y="1463040"/>
            <a:ext cx="64008" cy="749808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51960" y="157276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📍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800600" y="15179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Zone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00600" y="177393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HSR Layout · Koramangala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114800" y="2423160"/>
            <a:ext cx="4754880" cy="749808"/>
          </a:xfrm>
          <a:prstGeom prst="rect">
            <a:avLst>
              <a:gd name="adj" fmla="val 9756"/>
            </a:avLst>
          </a:prstGeom>
          <a:solidFill>
            <a:srgbClr val="1E1E1E"/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0" y="2423160"/>
            <a:ext cx="64008" cy="749808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51960" y="253288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800600" y="247802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00600" y="273405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· 4G · Jan Dhan A/C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114800" y="3383280"/>
            <a:ext cx="4754880" cy="749808"/>
          </a:xfrm>
          <a:prstGeom prst="rect">
            <a:avLst>
              <a:gd name="adj" fmla="val 9756"/>
            </a:avLst>
          </a:prstGeom>
          <a:solidFill>
            <a:srgbClr val="1E1E1E"/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3383280"/>
            <a:ext cx="64008" cy="749808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51960" y="349300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4800600" y="343814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Insurance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00600" y="369417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— Zero protection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114800" y="4389120"/>
            <a:ext cx="4754880" cy="594360"/>
          </a:xfrm>
          <a:prstGeom prst="rect">
            <a:avLst/>
          </a:prstGeom>
          <a:solidFill>
            <a:srgbClr val="FF6B2B">
              <a:alpha val="12000"/>
            </a:srgbClr>
          </a:solidFill>
          <a:ln w="6350">
            <a:solidFill>
              <a:srgbClr val="FF6B2B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97680" y="445312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😰  When it rains or a bandh hits — Ravi loses a full day's income with zero recourse.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74320" y="46634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457200"/>
            <a:ext cx="4572000" cy="4114800"/>
          </a:xfrm>
          <a:prstGeom prst="ellipse">
            <a:avLst/>
          </a:prstGeom>
          <a:solidFill>
            <a:srgbClr val="FF6B2B">
              <a:alpha val="12000"/>
            </a:srgbClr>
          </a:solidFill>
          <a:ln w="12700">
            <a:solidFill>
              <a:srgbClr val="FF6B2B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914400"/>
            <a:ext cx="3657600" cy="3200400"/>
          </a:xfrm>
          <a:prstGeom prst="ellipse">
            <a:avLst/>
          </a:prstGeom>
          <a:solidFill>
            <a:srgbClr val="FFD93D">
              <a:alpha val="10000"/>
            </a:srgbClr>
          </a:solidFill>
          <a:ln w="12700">
            <a:solidFill>
              <a:srgbClr val="FFD93D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931920" y="731520"/>
            <a:ext cx="1280160" cy="1280160"/>
          </a:xfrm>
          <a:prstGeom prst="roundRect">
            <a:avLst>
              <a:gd name="adj" fmla="val 14286"/>
            </a:avLst>
          </a:prstGeom>
          <a:solidFill>
            <a:srgbClr val="FF6B2B"/>
          </a:solidFill>
          <a:ln w="12700">
            <a:solidFill>
              <a:srgbClr val="FF9A5C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931920" y="77724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🛵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spc="-200" kern="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GigShield</a:t>
            </a:r>
            <a:endParaRPr lang="en-US" sz="7800" dirty="0"/>
          </a:p>
        </p:txBody>
      </p:sp>
      <p:sp>
        <p:nvSpPr>
          <p:cNvPr id="7" name="Text 5"/>
          <p:cNvSpPr/>
          <p:nvPr/>
        </p:nvSpPr>
        <p:spPr>
          <a:xfrm>
            <a:off x="1371600" y="338328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Parametric Income Protection</a:t>
            </a:r>
            <a:endParaRPr lang="en-US" sz="16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India's Food Delivery Partners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0" y="4343400"/>
            <a:ext cx="3657600" cy="502920"/>
          </a:xfrm>
          <a:prstGeom prst="roundRect">
            <a:avLst>
              <a:gd name="adj" fmla="val 50909"/>
            </a:avLst>
          </a:prstGeom>
          <a:solidFill>
            <a:srgbClr val="FF6B2B">
              <a:alpha val="15000"/>
            </a:srgbClr>
          </a:solidFill>
          <a:ln w="12700">
            <a:solidFill>
              <a:srgbClr val="FF6B2B">
                <a:alpha val="4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43891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Paperwork  ·  Auto Payouts  ·  Weekly Plans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46634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— ZERO TOUCH FLOW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417320" cy="1005840"/>
          </a:xfrm>
          <a:prstGeom prst="roundRect">
            <a:avLst>
              <a:gd name="adj" fmla="val 12727"/>
            </a:avLst>
          </a:prstGeom>
          <a:solidFill>
            <a:srgbClr val="1E1E1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41248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📋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2304288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ID + Aadhaar</a:t>
            </a:r>
            <a:endParaRPr lang="en-US" sz="10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 onboarding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28800" y="1325880"/>
            <a:ext cx="228600" cy="0"/>
          </a:xfrm>
          <a:prstGeom prst="line">
            <a:avLst/>
          </a:prstGeom>
          <a:noFill/>
          <a:ln w="25400">
            <a:solidFill>
              <a:srgbClr val="FF6B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57400" y="822960"/>
            <a:ext cx="1417320" cy="1005840"/>
          </a:xfrm>
          <a:prstGeom prst="roundRect">
            <a:avLst>
              <a:gd name="adj" fmla="val 12727"/>
            </a:avLst>
          </a:prstGeom>
          <a:solidFill>
            <a:srgbClr val="1E1E1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57400" y="841248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🛡️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965960" y="192024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Plan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920240" y="2304288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coverage</a:t>
            </a:r>
            <a:endParaRPr lang="en-US" sz="10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₹29/week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29000" y="1325880"/>
            <a:ext cx="228600" cy="0"/>
          </a:xfrm>
          <a:prstGeom prst="line">
            <a:avLst/>
          </a:prstGeom>
          <a:noFill/>
          <a:ln w="25400">
            <a:solidFill>
              <a:srgbClr val="FF6B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0" y="822960"/>
            <a:ext cx="1417320" cy="1005840"/>
          </a:xfrm>
          <a:prstGeom prst="roundRect">
            <a:avLst>
              <a:gd name="adj" fmla="val 12727"/>
            </a:avLst>
          </a:prstGeom>
          <a:solidFill>
            <a:srgbClr val="FF6B2B"/>
          </a:solidFill>
          <a:ln w="12700">
            <a:solidFill>
              <a:srgbClr val="FF9A5C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0" y="841248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⚡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566160" y="192024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Disruption Hit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20440" y="2304288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detects trigger</a:t>
            </a:r>
            <a:endParaRPr lang="en-US" sz="10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live APIs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0" y="1325880"/>
            <a:ext cx="228600" cy="0"/>
          </a:xfrm>
          <a:prstGeom prst="line">
            <a:avLst/>
          </a:prstGeom>
          <a:noFill/>
          <a:ln w="25400">
            <a:solidFill>
              <a:srgbClr val="FF6B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57800" y="822960"/>
            <a:ext cx="1417320" cy="1005840"/>
          </a:xfrm>
          <a:prstGeom prst="roundRect">
            <a:avLst>
              <a:gd name="adj" fmla="val 12727"/>
            </a:avLst>
          </a:prstGeom>
          <a:solidFill>
            <a:srgbClr val="1E1E1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57800" y="841248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🔍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5166360" y="192024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Check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20640" y="2304288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+ activity</a:t>
            </a:r>
            <a:endParaRPr lang="en-US" sz="10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auto-validated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629400" y="1325880"/>
            <a:ext cx="228600" cy="0"/>
          </a:xfrm>
          <a:prstGeom prst="line">
            <a:avLst/>
          </a:prstGeom>
          <a:noFill/>
          <a:ln w="25400">
            <a:solidFill>
              <a:srgbClr val="FF6B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0" y="822960"/>
            <a:ext cx="1417320" cy="1005840"/>
          </a:xfrm>
          <a:prstGeom prst="roundRect">
            <a:avLst>
              <a:gd name="adj" fmla="val 12727"/>
            </a:avLst>
          </a:prstGeom>
          <a:solidFill>
            <a:srgbClr val="FF6B2B"/>
          </a:solidFill>
          <a:ln w="12700">
            <a:solidFill>
              <a:srgbClr val="FF9A5C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858000" y="841248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💸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6766560" y="192024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Payout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720840" y="2304288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wages credited</a:t>
            </a:r>
            <a:endParaRPr lang="en-US" sz="10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2 hours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5800" y="1325880"/>
            <a:ext cx="7772400" cy="0"/>
          </a:xfrm>
          <a:prstGeom prst="line">
            <a:avLst/>
          </a:prstGeom>
          <a:noFill/>
          <a:ln w="12700">
            <a:solidFill>
              <a:srgbClr val="FF6B2B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246120"/>
            <a:ext cx="8229600" cy="685800"/>
          </a:xfrm>
          <a:prstGeom prst="rect">
            <a:avLst/>
          </a:prstGeom>
          <a:solidFill>
            <a:srgbClr val="FF6B2B">
              <a:alpha val="10000"/>
            </a:srgbClr>
          </a:solidFill>
          <a:ln w="10160">
            <a:solidFill>
              <a:srgbClr val="FF6B2B">
                <a:alpha val="3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3375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manual claims — GigShield detects, validates, and pays Ravi automatically. No action needed.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74320" y="46634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PARAMETRIC TRIGGERS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8229600" cy="749808"/>
          </a:xfrm>
          <a:prstGeom prst="rect">
            <a:avLst/>
          </a:prstGeom>
          <a:solidFill>
            <a:srgbClr val="161616"/>
          </a:solidFill>
          <a:ln w="6350">
            <a:solidFill>
              <a:srgbClr val="25252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685800"/>
            <a:ext cx="54864" cy="749808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79552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🌧️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25880" y="740664"/>
            <a:ext cx="2926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Rainfall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06984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50mm in 6 hours OR IMD Red Alert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480560" y="850392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1E1E1E"/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86868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OpenWeatherMap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92240" y="8686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Day ✓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536192"/>
            <a:ext cx="8229600" cy="749808"/>
          </a:xfrm>
          <a:prstGeom prst="rect">
            <a:avLst/>
          </a:prstGeom>
          <a:solidFill>
            <a:srgbClr val="161616"/>
          </a:solidFill>
          <a:ln w="6350">
            <a:solidFill>
              <a:srgbClr val="25252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536192"/>
            <a:ext cx="54864" cy="749808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🌡️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25880" y="1591056"/>
            <a:ext cx="2926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Heat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1920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43°C sustained for 4+ hours in zone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80560" y="1700784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1E1E1E"/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171907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OpenWeatherMap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92240" y="171907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Day ✓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2386584"/>
            <a:ext cx="8229600" cy="749808"/>
          </a:xfrm>
          <a:prstGeom prst="rect">
            <a:avLst/>
          </a:prstGeom>
          <a:solidFill>
            <a:srgbClr val="161616"/>
          </a:solidFill>
          <a:ln w="6350">
            <a:solidFill>
              <a:srgbClr val="25252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386584"/>
            <a:ext cx="54864" cy="749808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249631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🌫️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325880" y="2441448"/>
            <a:ext cx="2926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Air Quality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25880" y="277063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 &gt; 350 (Hazardous) in delivery zone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480560" y="2551176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1E1E1E"/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80560" y="256946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CPCB / OpenAQ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92240" y="256946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Day ✓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7200" y="3236976"/>
            <a:ext cx="8229600" cy="749808"/>
          </a:xfrm>
          <a:prstGeom prst="rect">
            <a:avLst/>
          </a:prstGeom>
          <a:solidFill>
            <a:srgbClr val="161616"/>
          </a:solidFill>
          <a:ln w="6350">
            <a:solidFill>
              <a:srgbClr val="25252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236976"/>
            <a:ext cx="54864" cy="749808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346704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🚫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325880" y="3291840"/>
            <a:ext cx="2926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Curfew / Bandh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325880" y="362102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zone-level shutdown confirmed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480560" y="3401568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1E1E1E"/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80560" y="3419856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 Alert + NLP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92240" y="341985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Day ✓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57200" y="4087368"/>
            <a:ext cx="8229600" cy="749808"/>
          </a:xfrm>
          <a:prstGeom prst="rect">
            <a:avLst/>
          </a:prstGeom>
          <a:solidFill>
            <a:srgbClr val="161616"/>
          </a:solidFill>
          <a:ln w="6350">
            <a:solidFill>
              <a:srgbClr val="25252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4087368"/>
            <a:ext cx="54864" cy="749808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" y="4197096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📵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1325880" y="4142232"/>
            <a:ext cx="2926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Outage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325880" y="447141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Swiggy/Zomato app down for more than 3 hours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480560" y="4251960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1E1E1E"/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80560" y="427024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API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92240" y="427024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Day ✓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274320" y="46634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PRICING PLANS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2606040" cy="4251960"/>
          </a:xfrm>
          <a:prstGeom prst="rect">
            <a:avLst/>
          </a:prstGeom>
          <a:solidFill>
            <a:srgbClr val="161616"/>
          </a:solidFill>
          <a:ln w="6350">
            <a:solidFill>
              <a:srgbClr val="2525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0467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Kavach Basic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94360" y="1207008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FF6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₹29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1691640" y="166420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/week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2240280"/>
            <a:ext cx="2331720" cy="0"/>
          </a:xfrm>
          <a:prstGeom prst="line">
            <a:avLst/>
          </a:prstGeom>
          <a:noFill/>
          <a:ln w="6350">
            <a:solidFill>
              <a:srgbClr val="2525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3317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₹300/disruption day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67919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partners · Low-risk zones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3044952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parametric triggers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3374136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UPI payout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3703320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alerts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46120" y="640080"/>
            <a:ext cx="2606040" cy="4251960"/>
          </a:xfrm>
          <a:prstGeom prst="rect">
            <a:avLst/>
          </a:prstGeom>
          <a:solidFill>
            <a:srgbClr val="1C1007"/>
          </a:solidFill>
          <a:ln w="19050">
            <a:solidFill>
              <a:srgbClr val="FF6B2B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840480" y="457200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0" y="493776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83280" y="80467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Kavach Plus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83280" y="1207008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FF6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₹49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4480560" y="166420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/week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383280" y="2240280"/>
            <a:ext cx="2331720" cy="0"/>
          </a:xfrm>
          <a:prstGeom prst="line">
            <a:avLst/>
          </a:prstGeom>
          <a:noFill/>
          <a:ln w="6350">
            <a:solidFill>
              <a:srgbClr val="2E200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23317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₹500/disruption day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383280" y="267919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earners · Monsoon zones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83280" y="3044952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parametric triggers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83280" y="3374136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UPI payout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83280" y="3703320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dynamic pricing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83280" y="4032504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processing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35040" y="640080"/>
            <a:ext cx="2606040" cy="4251960"/>
          </a:xfrm>
          <a:prstGeom prst="rect">
            <a:avLst/>
          </a:prstGeom>
          <a:solidFill>
            <a:srgbClr val="161616"/>
          </a:solidFill>
          <a:ln w="6350">
            <a:solidFill>
              <a:srgbClr val="25252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80467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Kavach Pro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172200" y="1207008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FF6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₹79</a:t>
            </a:r>
            <a:endParaRPr lang="en-US" sz="5200" dirty="0"/>
          </a:p>
        </p:txBody>
      </p:sp>
      <p:sp>
        <p:nvSpPr>
          <p:cNvPr id="29" name="Text 27"/>
          <p:cNvSpPr/>
          <p:nvPr/>
        </p:nvSpPr>
        <p:spPr>
          <a:xfrm>
            <a:off x="7269480" y="166420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/week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172200" y="2240280"/>
            <a:ext cx="2331720" cy="0"/>
          </a:xfrm>
          <a:prstGeom prst="line">
            <a:avLst/>
          </a:prstGeom>
          <a:noFill/>
          <a:ln w="6350">
            <a:solidFill>
              <a:srgbClr val="25252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23317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₹800/disruption day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172200" y="267919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earners · High-risk zones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72200" y="3044952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parametric triggers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72200" y="3374136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UPI payout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172200" y="3703320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dynamic pricing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172200" y="4032504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discount up to 15%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172200" y="436168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support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4645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Dynamic Pricing: premiums auto-adjust each week based on zone risk, season &amp; claim history.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74320" y="46634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ML ARCHITECTURE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5303520" cy="1261872"/>
          </a:xfrm>
          <a:prstGeom prst="rect">
            <a:avLst/>
          </a:prstGeom>
          <a:solidFill>
            <a:srgbClr val="141414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658368"/>
            <a:ext cx="54864" cy="1261872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7315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Premium Calculator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1078992"/>
            <a:ext cx="1463040" cy="274320"/>
          </a:xfrm>
          <a:prstGeom prst="roundRect">
            <a:avLst>
              <a:gd name="adj" fmla="val 20000"/>
            </a:avLst>
          </a:prstGeom>
          <a:solidFill>
            <a:srgbClr val="FF6B2B">
              <a:alpha val="15000"/>
            </a:srgbClr>
          </a:solidFill>
          <a:ln w="10160">
            <a:solidFill>
              <a:srgbClr val="FF6B2B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97280"/>
            <a:ext cx="1463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38988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historical disruption events, zone risk scores, worker tenure, and seasonal multipliers. Outputs a weekly risk score → premium adjustment.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075688"/>
            <a:ext cx="5303520" cy="1261872"/>
          </a:xfrm>
          <a:prstGeom prst="rect">
            <a:avLst/>
          </a:prstGeom>
          <a:solidFill>
            <a:srgbClr val="141414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075688"/>
            <a:ext cx="54864" cy="1261872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1488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Engine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496312"/>
            <a:ext cx="1463040" cy="274320"/>
          </a:xfrm>
          <a:prstGeom prst="roundRect">
            <a:avLst>
              <a:gd name="adj" fmla="val 20000"/>
            </a:avLst>
          </a:prstGeom>
          <a:solidFill>
            <a:srgbClr val="FF6B2B">
              <a:alpha val="15000"/>
            </a:srgbClr>
          </a:solidFill>
          <a:ln w="10160">
            <a:solidFill>
              <a:srgbClr val="FF6B2B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514600"/>
            <a:ext cx="1463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280720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using GPS vs disruption zone, platform activity logs, claim frequency, and cross-worker claim clustering analysis.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493008"/>
            <a:ext cx="5303520" cy="1261872"/>
          </a:xfrm>
          <a:prstGeom prst="rect">
            <a:avLst/>
          </a:prstGeom>
          <a:solidFill>
            <a:srgbClr val="141414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493008"/>
            <a:ext cx="54864" cy="1261872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5661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Disruption Predictor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5800" y="3913632"/>
            <a:ext cx="1463040" cy="274320"/>
          </a:xfrm>
          <a:prstGeom prst="roundRect">
            <a:avLst>
              <a:gd name="adj" fmla="val 20000"/>
            </a:avLst>
          </a:prstGeom>
          <a:solidFill>
            <a:srgbClr val="FF6B2B">
              <a:alpha val="15000"/>
            </a:srgbClr>
          </a:solidFill>
          <a:ln w="10160">
            <a:solidFill>
              <a:srgbClr val="FF6B2B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931920"/>
            <a:ext cx="1463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/ LSTM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" y="422452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forecasting to predict high-risk weeks. Pre-notifies workers to renew coverage. Adjusts insurer reserve requirements proactively.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0" y="658368"/>
            <a:ext cx="2468880" cy="1051560"/>
          </a:xfrm>
          <a:prstGeom prst="rect">
            <a:avLst/>
          </a:prstGeom>
          <a:solidFill>
            <a:srgbClr val="141414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7315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🌦️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400800" y="11887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APIs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0" y="1453896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· AQI · Civic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635240" y="1709928"/>
            <a:ext cx="0" cy="365760"/>
          </a:xfrm>
          <a:prstGeom prst="line">
            <a:avLst/>
          </a:prstGeom>
          <a:noFill/>
          <a:ln w="25400">
            <a:solidFill>
              <a:srgbClr val="FF6B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0" y="17373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6B2B"/>
                </a:solidFill>
              </a:rPr>
              <a:t>↓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00800" y="2075688"/>
            <a:ext cx="2468880" cy="1051560"/>
          </a:xfrm>
          <a:prstGeom prst="rect">
            <a:avLst/>
          </a:prstGeom>
          <a:solidFill>
            <a:srgbClr val="141414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2148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6400800" y="2606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00800" y="2871216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+ Fraud Score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635240" y="3127248"/>
            <a:ext cx="0" cy="365760"/>
          </a:xfrm>
          <a:prstGeom prst="line">
            <a:avLst/>
          </a:prstGeom>
          <a:noFill/>
          <a:ln w="25400">
            <a:solidFill>
              <a:srgbClr val="FF6B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0" y="31546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6B2B"/>
                </a:solidFill>
              </a:rPr>
              <a:t>↓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00800" y="3493008"/>
            <a:ext cx="2468880" cy="1051560"/>
          </a:xfrm>
          <a:prstGeom prst="rect">
            <a:avLst/>
          </a:prstGeom>
          <a:solidFill>
            <a:srgbClr val="141414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0" y="3566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💸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6400800" y="40233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Payout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00800" y="4288536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· UPI · Instant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74320" y="46634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7315200" cy="3657600"/>
          </a:xfrm>
          <a:prstGeom prst="ellipse">
            <a:avLst/>
          </a:prstGeom>
          <a:solidFill>
            <a:srgbClr val="FF6B2B">
              <a:alpha val="10000"/>
            </a:srgbClr>
          </a:solidFill>
          <a:ln w="12700">
            <a:solidFill>
              <a:srgbClr val="FF6B2B">
                <a:alpha val="1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822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GUIDEWIRE DEVTRAILS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118872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0" b="1" spc="-300" kern="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GigShield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1371600" y="27432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"Because Ravi deserves a safety net</a:t>
            </a:r>
            <a:endParaRPr lang="en-US" sz="18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strong as his work ethic."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286000" y="3794760"/>
            <a:ext cx="4572000" cy="548640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0" y="3858768"/>
            <a:ext cx="4572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🐙  github.com/arimaakousei/Guidewire--AI-Powered-Parametric-Income-Protection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46634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08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GigShield — DEVTrails 2026</dc:title>
  <dc:subject>PptxGenJS Presentation</dc:subject>
  <dc:creator>Team GigShield</dc:creator>
  <cp:lastModifiedBy>Team GigShield</cp:lastModifiedBy>
  <cp:revision>1</cp:revision>
  <dcterms:created xsi:type="dcterms:W3CDTF">2026-03-18T18:57:32Z</dcterms:created>
  <dcterms:modified xsi:type="dcterms:W3CDTF">2026-03-18T18:57:32Z</dcterms:modified>
</cp:coreProperties>
</file>